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59f2b605644687" /><Relationship Type="http://schemas.openxmlformats.org/officeDocument/2006/relationships/extended-properties" Target="/docProps/app.xml" Id="Rd8cc9bbc9c534752" /><Relationship Type="http://schemas.openxmlformats.org/officeDocument/2006/relationships/officeDocument" Target="/ppt/presentation.xml" Id="Ra30795e92291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883ced9ad14779"/>
  </p:sldMasterIdLst>
  <p:notesMasterIdLst>
    <p:notesMasterId xmlns:r="http://schemas.openxmlformats.org/officeDocument/2006/relationships" r:id="Rdf6cbb868635414d"/>
  </p:notesMasterIdLst>
  <p:sldIdLst>
    <p:sldId xmlns:r="http://schemas.openxmlformats.org/officeDocument/2006/relationships" id="256" r:id="Rcee509b52d99434e"/>
    <p:sldId xmlns:r="http://schemas.openxmlformats.org/officeDocument/2006/relationships" id="257" r:id="Ra5acc10e58e04af2"/>
    <p:sldId xmlns:r="http://schemas.openxmlformats.org/officeDocument/2006/relationships" id="258" r:id="Rc236b36e91964d72"/>
    <p:sldId xmlns:r="http://schemas.openxmlformats.org/officeDocument/2006/relationships" id="259" r:id="R6fca0201438b43c7"/>
    <p:sldId xmlns:r="http://schemas.openxmlformats.org/officeDocument/2006/relationships" id="260" r:id="Rd33ac47963b74654"/>
    <p:sldId xmlns:r="http://schemas.openxmlformats.org/officeDocument/2006/relationships" id="261" r:id="Rf17789064d5e466f"/>
    <p:sldId xmlns:r="http://schemas.openxmlformats.org/officeDocument/2006/relationships" id="262" r:id="Rf6c4902b72154d72"/>
    <p:sldId xmlns:r="http://schemas.openxmlformats.org/officeDocument/2006/relationships" id="263" r:id="R67e74c161eb844e9"/>
    <p:sldId xmlns:r="http://schemas.openxmlformats.org/officeDocument/2006/relationships" id="264" r:id="R82df2461b08f4a12"/>
    <p:sldId xmlns:r="http://schemas.openxmlformats.org/officeDocument/2006/relationships" id="265" r:id="R6ec0fe2f956f4322"/>
    <p:sldId xmlns:r="http://schemas.openxmlformats.org/officeDocument/2006/relationships" id="266" r:id="R03717339effd4140"/>
    <p:sldId xmlns:r="http://schemas.openxmlformats.org/officeDocument/2006/relationships" id="267" r:id="Rda0fea38183a4014"/>
    <p:sldId xmlns:r="http://schemas.openxmlformats.org/officeDocument/2006/relationships" id="268" r:id="R3bba9f008e7a4ae4"/>
    <p:sldId xmlns:r="http://schemas.openxmlformats.org/officeDocument/2006/relationships" id="269" r:id="Rd77af1d059014e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aed8a4b1344eb3" /><Relationship Type="http://schemas.openxmlformats.org/officeDocument/2006/relationships/slideMaster" Target="/ppt/slideMasters/slideMaster1.xml" Id="R21883ced9ad14779" /><Relationship Type="http://schemas.openxmlformats.org/officeDocument/2006/relationships/notesMaster" Target="/ppt/notesMasters/notesMaster1.xml" Id="Rdf6cbb868635414d" /><Relationship Type="http://schemas.openxmlformats.org/officeDocument/2006/relationships/presProps" Target="/ppt/presProps.xml" Id="R84ecc6eff44c40a7" /><Relationship Type="http://schemas.openxmlformats.org/officeDocument/2006/relationships/tableStyles" Target="/ppt/tableStyles.xml" Id="R6de68cdacdcd4c00" /><Relationship Type="http://schemas.openxmlformats.org/officeDocument/2006/relationships/slide" Target="/ppt/slides/slide1.xml" Id="Rcee509b52d99434e" /><Relationship Type="http://schemas.openxmlformats.org/officeDocument/2006/relationships/slide" Target="/ppt/slides/slide2.xml" Id="Ra5acc10e58e04af2" /><Relationship Type="http://schemas.openxmlformats.org/officeDocument/2006/relationships/slide" Target="/ppt/slides/slide3.xml" Id="Rc236b36e91964d72" /><Relationship Type="http://schemas.openxmlformats.org/officeDocument/2006/relationships/slide" Target="/ppt/slides/slide4.xml" Id="R6fca0201438b43c7" /><Relationship Type="http://schemas.openxmlformats.org/officeDocument/2006/relationships/slide" Target="/ppt/slides/slide5.xml" Id="Rd33ac47963b74654" /><Relationship Type="http://schemas.openxmlformats.org/officeDocument/2006/relationships/slide" Target="/ppt/slides/slide6.xml" Id="Rf17789064d5e466f" /><Relationship Type="http://schemas.openxmlformats.org/officeDocument/2006/relationships/slide" Target="/ppt/slides/slide7.xml" Id="Rf6c4902b72154d72" /><Relationship Type="http://schemas.openxmlformats.org/officeDocument/2006/relationships/slide" Target="/ppt/slides/slide8.xml" Id="R67e74c161eb844e9" /><Relationship Type="http://schemas.openxmlformats.org/officeDocument/2006/relationships/slide" Target="/ppt/slides/slide9.xml" Id="R82df2461b08f4a12" /><Relationship Type="http://schemas.openxmlformats.org/officeDocument/2006/relationships/slide" Target="/ppt/slides/slide10.xml" Id="R6ec0fe2f956f4322" /><Relationship Type="http://schemas.openxmlformats.org/officeDocument/2006/relationships/slide" Target="/ppt/slides/slide11.xml" Id="R03717339effd4140" /><Relationship Type="http://schemas.openxmlformats.org/officeDocument/2006/relationships/slide" Target="/ppt/slides/slide12.xml" Id="Rda0fea38183a4014" /><Relationship Type="http://schemas.openxmlformats.org/officeDocument/2006/relationships/slide" Target="/ppt/slides/slide13.xml" Id="R3bba9f008e7a4ae4" /><Relationship Type="http://schemas.openxmlformats.org/officeDocument/2006/relationships/slide" Target="/ppt/slides/slide14.xml" Id="Rd77af1d059014e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8e0a9bf1f844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88e694ef7b4532" /><Relationship Type="http://schemas.openxmlformats.org/officeDocument/2006/relationships/notesMaster" Target="/ppt/notesMasters/notesMaster1.xml" Id="R9848e4017c7f49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3c123a5c14eab" /><Relationship Type="http://schemas.openxmlformats.org/officeDocument/2006/relationships/notesMaster" Target="/ppt/notesMasters/notesMaster1.xml" Id="R59ea6417ea554f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9979d1f3244cdc" /><Relationship Type="http://schemas.openxmlformats.org/officeDocument/2006/relationships/notesMaster" Target="/ppt/notesMasters/notesMaster1.xml" Id="R1df72c1cea2e4c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65c6b5f1fe40fa" /><Relationship Type="http://schemas.openxmlformats.org/officeDocument/2006/relationships/notesMaster" Target="/ppt/notesMasters/notesMaster1.xml" Id="R7b45180e5ae347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de9317e824e8c" /><Relationship Type="http://schemas.openxmlformats.org/officeDocument/2006/relationships/notesMaster" Target="/ppt/notesMasters/notesMaster1.xml" Id="Ra8cfb6f84b5040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4a8d47acf7463c" /><Relationship Type="http://schemas.openxmlformats.org/officeDocument/2006/relationships/notesMaster" Target="/ppt/notesMasters/notesMaster1.xml" Id="Rf4cd41daa2ac4f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5a90e8ebb141b5" /><Relationship Type="http://schemas.openxmlformats.org/officeDocument/2006/relationships/notesMaster" Target="/ppt/notesMasters/notesMaster1.xml" Id="Rbab8c4ae0abd47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be9634320b4466" /><Relationship Type="http://schemas.openxmlformats.org/officeDocument/2006/relationships/notesMaster" Target="/ppt/notesMasters/notesMaster1.xml" Id="Rab4a772d9c444f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9a03548a234d8d" /><Relationship Type="http://schemas.openxmlformats.org/officeDocument/2006/relationships/notesMaster" Target="/ppt/notesMasters/notesMaster1.xml" Id="Red776af699f44c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a62aa8584f437b" /><Relationship Type="http://schemas.openxmlformats.org/officeDocument/2006/relationships/notesMaster" Target="/ppt/notesMasters/notesMaster1.xml" Id="R85b9a1a0a9e141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c2074359d84609" /><Relationship Type="http://schemas.openxmlformats.org/officeDocument/2006/relationships/notesMaster" Target="/ppt/notesMasters/notesMaster1.xml" Id="R09ed2972f7ba49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e4ee5148e84d74" /><Relationship Type="http://schemas.openxmlformats.org/officeDocument/2006/relationships/notesMaster" Target="/ppt/notesMasters/notesMaster1.xml" Id="Re83d216cfe0047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dd6f859c944af3" /><Relationship Type="http://schemas.openxmlformats.org/officeDocument/2006/relationships/notesMaster" Target="/ppt/notesMasters/notesMaster1.xml" Id="R584235422b6947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ae76c71bbf4177" /><Relationship Type="http://schemas.openxmlformats.org/officeDocument/2006/relationships/notesMaster" Target="/ppt/notesMasters/notesMaster1.xml" Id="Rbbd041e07b7c4c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webcontent/assets/images/Hero-Intro.png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https://github.com/rubensh/p20260804-001.git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features/0008/SPEC.md</a:t>
            </a:r>
          </a:p>
          <a:p xmlns:a="http://schemas.openxmlformats.org/drawingml/2006/main">
            <a:r>
              <a:t>- features/0011/SPEC.md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features/0012/SPEC.md</a:t>
            </a:r>
          </a:p>
          <a:p xmlns:a="http://schemas.openxmlformats.org/drawingml/2006/main">
            <a:r>
              <a:t>- features/0016/SPEC.md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features/0009/SPEC.md</a:t>
            </a:r>
          </a:p>
          <a:p xmlns:a="http://schemas.openxmlformats.org/drawingml/2006/main">
            <a:r>
              <a:t>- features/0010/SPEC.md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real: tmp/pdfs/game-manual/captura-juego.png</a:t>
            </a:r>
          </a:p>
          <a:p xmlns:a="http://schemas.openxmlformats.org/drawingml/2006/main">
            <a:r>
              <a:t>- features/0010/SPEC.md</a:t>
            </a:r>
          </a:p>
          <a:p xmlns:a="http://schemas.openxmlformats.org/drawingml/2006/main">
            <a:r>
              <a:t>- features/0014/SPEC.md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features/0008/SPEC.md</a:t>
            </a:r>
          </a:p>
          <a:p xmlns:a="http://schemas.openxmlformats.org/drawingml/2006/main">
            <a:r>
              <a:t>- features/0011/SPEC.md</a:t>
            </a:r>
          </a:p>
          <a:p xmlns:a="http://schemas.openxmlformats.org/drawingml/2006/main">
            <a:r>
              <a:t>- features/0012/SPEC.md</a:t>
            </a:r>
          </a:p>
          <a:p xmlns:a="http://schemas.openxmlformats.org/drawingml/2006/main">
            <a:r>
              <a:t>- webcontent/assets/images/Stairs-Down.png</a:t>
            </a:r>
          </a:p>
          <a:p xmlns:a="http://schemas.openxmlformats.org/drawingml/2006/main">
            <a:r>
              <a:t>- webcontent/assets/images/Stairs-Up.png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features/0013/SPEC.md</a:t>
            </a:r>
          </a:p>
          <a:p xmlns:a="http://schemas.openxmlformats.org/drawingml/2006/main">
            <a:r>
              <a:t>- webcontent/assets/images/Goblin-001.png</a:t>
            </a:r>
          </a:p>
          <a:p xmlns:a="http://schemas.openxmlformats.org/drawingml/2006/main">
            <a:r>
              <a:t>- webcontent/assets/images/Goblin-002.png</a:t>
            </a:r>
          </a:p>
          <a:p xmlns:a="http://schemas.openxmlformats.org/drawingml/2006/main">
            <a:r>
              <a:t>- webcontent/assets/images/Goblin-003.png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features/0013/SPEC.md</a:t>
            </a:r>
          </a:p>
          <a:p xmlns:a="http://schemas.openxmlformats.org/drawingml/2006/main">
            <a:r>
              <a:t>- features/0014/SPEC.md</a:t>
            </a:r>
          </a:p>
          <a:p xmlns:a="http://schemas.openxmlformats.org/drawingml/2006/main">
            <a:r>
              <a:t>- features/0017/SPEC.md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features/0015/SPEC.md</a:t>
            </a:r>
          </a:p>
          <a:p xmlns:a="http://schemas.openxmlformats.org/drawingml/2006/main">
            <a:r>
              <a:t>- webcontent/assets/images/Potion001.png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features/0016/SPEC.md</a:t>
            </a:r>
          </a:p>
          <a:p xmlns:a="http://schemas.openxmlformats.org/drawingml/2006/main">
            <a:r>
              <a:t>- webcontent/assets/images/Orc-001.png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features/0017/SPEC.md</a:t>
            </a:r>
          </a:p>
          <a:p xmlns:a="http://schemas.openxmlformats.org/drawingml/2006/main">
            <a:r>
              <a:t>- Captura real: tmp/pdfs/game-manual/captura-menu.png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features/0001/SPEC.md a features/0017/SPEC.md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features/0008/SPEC.md a features/0017/SPEC.md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223bb3a0540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9e21dc47f4b2a" /><Relationship Type="http://schemas.openxmlformats.org/officeDocument/2006/relationships/slideLayout" Target="/ppt/slideLayouts/slideLayout1.xml" Id="R49153b592f654c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153b592f654c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9a9db32414813" /><Relationship Type="http://schemas.openxmlformats.org/officeDocument/2006/relationships/image" Target="/ppt/media/image.png" Id="R296945fb74334001" /><Relationship Type="http://schemas.openxmlformats.org/officeDocument/2006/relationships/notesSlide" Target="/ppt/notesSlides/notesSlide1.xml" Id="R13937d3e1b7946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e9ab8ab564c40" /><Relationship Type="http://schemas.openxmlformats.org/officeDocument/2006/relationships/notesSlide" Target="/ppt/notesSlides/notesSlide2.xml" Id="R5a81d3025d6a42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395024fc646cd" /><Relationship Type="http://schemas.openxmlformats.org/officeDocument/2006/relationships/notesSlide" Target="/ppt/notesSlides/notesSlide3.xml" Id="R6c7497c9a0de4f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6e06555c64749" /><Relationship Type="http://schemas.openxmlformats.org/officeDocument/2006/relationships/notesSlide" Target="/ppt/notesSlides/notesSlide4.xml" Id="Rfed328f59d494b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5e8f826094b82" /><Relationship Type="http://schemas.openxmlformats.org/officeDocument/2006/relationships/notesSlide" Target="/ppt/notesSlides/notesSlide5.xml" Id="Rfb49c86e750746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dc5c2b0b54e81" /><Relationship Type="http://schemas.openxmlformats.org/officeDocument/2006/relationships/image" Target="/ppt/media/image2.png" Id="R624f55954b124baa" /><Relationship Type="http://schemas.openxmlformats.org/officeDocument/2006/relationships/notesSlide" Target="/ppt/notesSlides/notesSlide6.xml" Id="R3ba49684f3ce4a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dfcba58e548f3" /><Relationship Type="http://schemas.openxmlformats.org/officeDocument/2006/relationships/image" Target="/ppt/media/image3.png" Id="R10b722bdc06a4732" /><Relationship Type="http://schemas.openxmlformats.org/officeDocument/2006/relationships/image" Target="/ppt/media/image4.png" Id="R72992cd11e6c49ac" /><Relationship Type="http://schemas.openxmlformats.org/officeDocument/2006/relationships/notesSlide" Target="/ppt/notesSlides/notesSlide7.xml" Id="Rd8679578582a4c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40ea88e7b42b3" /><Relationship Type="http://schemas.openxmlformats.org/officeDocument/2006/relationships/image" Target="/ppt/media/image5.png" Id="Rf7052396af6d47b6" /><Relationship Type="http://schemas.openxmlformats.org/officeDocument/2006/relationships/image" Target="/ppt/media/image6.png" Id="R90dff40d7c0645a2" /><Relationship Type="http://schemas.openxmlformats.org/officeDocument/2006/relationships/image" Target="/ppt/media/image7.png" Id="R3a83a6e2a4454078" /><Relationship Type="http://schemas.openxmlformats.org/officeDocument/2006/relationships/notesSlide" Target="/ppt/notesSlides/notesSlide8.xml" Id="R725b06ca4eec49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9debcfb354a52" /><Relationship Type="http://schemas.openxmlformats.org/officeDocument/2006/relationships/notesSlide" Target="/ppt/notesSlides/notesSlide9.xml" Id="R8f9b9a13efa648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e13c45cc240b4" /><Relationship Type="http://schemas.openxmlformats.org/officeDocument/2006/relationships/image" Target="/ppt/media/image8.png" Id="R26e47613a17a44be" /><Relationship Type="http://schemas.openxmlformats.org/officeDocument/2006/relationships/notesSlide" Target="/ppt/notesSlides/notesSlide10.xml" Id="Rcde7874751de48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1048863e24447" /><Relationship Type="http://schemas.openxmlformats.org/officeDocument/2006/relationships/image" Target="/ppt/media/image9.png" Id="R0eb2c60b816648f8" /><Relationship Type="http://schemas.openxmlformats.org/officeDocument/2006/relationships/notesSlide" Target="/ppt/notesSlides/notesSlide11.xml" Id="R7d5393c5200b4f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c8ac3e73c4c33" /><Relationship Type="http://schemas.openxmlformats.org/officeDocument/2006/relationships/image" Target="/ppt/media/image10.png" Id="R79143888e59e4d8d" /><Relationship Type="http://schemas.openxmlformats.org/officeDocument/2006/relationships/notesSlide" Target="/ppt/notesSlides/notesSlide12.xml" Id="Rcfb1291a094a4e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91f5d3c874533" /><Relationship Type="http://schemas.openxmlformats.org/officeDocument/2006/relationships/notesSlide" Target="/ppt/notesSlides/notesSlide13.xml" Id="R16850ee1aa9849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509facd1f41e3" /><Relationship Type="http://schemas.openxmlformats.org/officeDocument/2006/relationships/notesSlide" Target="/ppt/notesSlides/notesSlide14.xml" Id="Rd8c2d27d68e3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945fb74334001"/>
          <a:stretch xmlns:a="http://schemas.openxmlformats.org/drawingml/2006/main"/>
        </p:blipFill>
        <p:spPr>
          <a:xfrm xmlns:a="http://schemas.openxmlformats.org/drawingml/2006/main">
            <a:off x="7834313" y="2857500"/>
            <a:ext cx="2667000" cy="4000500"/>
          </a:xfrm>
          <a:prstGeom xmlns:a="http://schemas.openxmlformats.org/drawingml/2006/main" prst="rect">
            <a:avLst/>
          </a:prstGeom>
        </p:spPr>
      </p:pic>
      <p:sp>
        <p:nvSpPr>
          <p:cNvPr id="2" name="cover-band">
            <a:extLst xmlns:a="http://schemas.openxmlformats.org/drawingml/2006/main">
              <a:ext uri="{FF2B5EF4-FFF2-40B4-BE49-F238E27FC236}">
                <a16:creationId xmlns:a16="http://schemas.microsoft.com/office/drawing/2014/main" id="{28B54A2A-B84A-412D-9786-9810114A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258F339-4163-4276-917F-2175080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84E869-83CF-4765-B6B3-EB724162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3EFE8"/>
                </a:solidFill>
              </a:defRPr>
            </a:pPr>
            <a:r>
              <a:rPr sz="4650" b="1">
                <a:solidFill>
                  <a:srgbClr val="F3EFE8"/>
                </a:solidFill>
              </a:rPr>
              <a:t>Buried</a:t>
            </a:r>
          </a:p>
          <a:p xmlns:a="http://schemas.openxmlformats.org/drawingml/2006/main">
            <a:pPr algn="l">
              <a:defRPr sz="4650" b="1">
                <a:solidFill>
                  <a:srgbClr val="F3EFE8"/>
                </a:solidFill>
              </a:defRPr>
            </a:pPr>
            <a:r>
              <a:rPr sz="4650" b="1">
                <a:solidFill>
                  <a:srgbClr val="F3EFE8"/>
                </a:solidFill>
              </a:rPr>
              <a:t>Dark World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35F78AA-5686-416D-A802-70DD9769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7B0A6"/>
                </a:solidFill>
              </a:defRPr>
            </a:pPr>
            <a:r>
              <a:rPr sz="2100" b="0">
                <a:solidFill>
                  <a:srgbClr val="B7B0A6"/>
                </a:solidFill>
              </a:rPr>
              <a:t>Manual de juego</a:t>
            </a:r>
          </a:p>
          <a:p xmlns:a="http://schemas.openxmlformats.org/drawingml/2006/main">
            <a:pPr algn="l">
              <a:defRPr sz="2100" b="0">
                <a:solidFill>
                  <a:srgbClr val="B7B0A6"/>
                </a:solidFill>
              </a:defRPr>
            </a:pPr>
            <a:r>
              <a:rPr sz="2100" b="0">
                <a:solidFill>
                  <a:srgbClr val="B7B0A6"/>
                </a:solidFill>
              </a:rPr>
              <a:t>y memoria de creación</a:t>
            </a:r>
          </a:p>
        </p:txBody>
      </p:sp>
      <p:sp>
        <p:nvSpPr>
          <p:cNvPr id="6" name="cover-line">
            <a:extLst xmlns:a="http://schemas.openxmlformats.org/drawingml/2006/main">
              <a:ext uri="{FF2B5EF4-FFF2-40B4-BE49-F238E27FC236}">
                <a16:creationId xmlns:a16="http://schemas.microsoft.com/office/drawing/2014/main" id="{413E343E-519E-46C4-BE64-74BCFBC9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1D20"/>
                </a:solidFill>
              </a:defRPr>
            </a:pPr>
            <a:r>
              <a:rPr sz="1350" b="1">
                <a:solidFill>
                  <a:srgbClr val="9F1D20"/>
                </a:solidFill>
              </a:rPr>
              <a:t>Explora. Resiste. Desciende.</a:t>
            </a:r>
          </a:p>
        </p:txBody>
      </p:sp>
    </p:spTree>
    <p:extLst>
      <p:ext uri="{BB962C8B-B14F-4D97-AF65-F5344CB8AC3E}">
        <p14:creationId xmlns:p14="http://schemas.microsoft.com/office/powerpoint/2010/main" val="24890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uthor-accent">
            <a:extLst xmlns:a="http://schemas.openxmlformats.org/drawingml/2006/main">
              <a:ext uri="{FF2B5EF4-FFF2-40B4-BE49-F238E27FC236}">
                <a16:creationId xmlns:a16="http://schemas.microsoft.com/office/drawing/2014/main" id="{4BC9D046-91D0-4F6E-B99C-A20B72D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uthor-eyebrow">
            <a:extLst xmlns:a="http://schemas.openxmlformats.org/drawingml/2006/main">
              <a:ext uri="{FF2B5EF4-FFF2-40B4-BE49-F238E27FC236}">
                <a16:creationId xmlns:a16="http://schemas.microsoft.com/office/drawing/2014/main" id="{0A686D70-78E9-4B71-A708-C544D1B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AUTORÍA</a:t>
            </a:r>
          </a:p>
        </p:txBody>
      </p:sp>
      <p:sp>
        <p:nvSpPr>
          <p:cNvPr id="3" name="author-name">
            <a:extLst xmlns:a="http://schemas.openxmlformats.org/drawingml/2006/main">
              <a:ext uri="{FF2B5EF4-FFF2-40B4-BE49-F238E27FC236}">
                <a16:creationId xmlns:a16="http://schemas.microsoft.com/office/drawing/2014/main" id="{BE88A29A-5A3B-4159-A4E7-481A1776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EFE8"/>
                </a:solidFill>
              </a:defRPr>
            </a:pPr>
            <a:r>
              <a:rPr sz="3900" b="1">
                <a:solidFill>
                  <a:srgbClr val="F3EFE8"/>
                </a:solidFill>
              </a:rPr>
              <a:t>Rubén Santana Hernández</a:t>
            </a:r>
          </a:p>
        </p:txBody>
      </p:sp>
      <p:sp>
        <p:nvSpPr>
          <p:cNvPr id="4" name="project-label">
            <a:extLst xmlns:a="http://schemas.openxmlformats.org/drawingml/2006/main">
              <a:ext uri="{FF2B5EF4-FFF2-40B4-BE49-F238E27FC236}">
                <a16:creationId xmlns:a16="http://schemas.microsoft.com/office/drawing/2014/main" id="{9B618A42-589D-4E6B-BDC9-982C4ACB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B0A6"/>
                </a:solidFill>
              </a:defRPr>
            </a:pPr>
            <a:r>
              <a:rPr sz="1800" b="1">
                <a:solidFill>
                  <a:srgbClr val="B7B0A6"/>
                </a:solidFill>
              </a:rPr>
              <a:t>Proyecto</a:t>
            </a:r>
          </a:p>
        </p:txBody>
      </p:sp>
      <p:sp>
        <p:nvSpPr>
          <p:cNvPr id="5" name="project-url">
            <a:extLst xmlns:a="http://schemas.openxmlformats.org/drawingml/2006/main">
              <a:ext uri="{FF2B5EF4-FFF2-40B4-BE49-F238E27FC236}">
                <a16:creationId xmlns:a16="http://schemas.microsoft.com/office/drawing/2014/main" id="{81D68D13-8A17-4B8D-B491-4BAF8052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3EFE8"/>
                </a:solidFill>
              </a:defRPr>
            </a:pPr>
            <a:r>
              <a:rPr sz="1875" b="0">
                <a:solidFill>
                  <a:srgbClr val="F3EFE8"/>
                </a:solidFill>
              </a:rPr>
              <a:t>https://github.com/rubensh/p20260804-001.git</a:t>
            </a:r>
          </a:p>
        </p:txBody>
      </p:sp>
      <p:sp>
        <p:nvSpPr>
          <p:cNvPr id="6" name="author-rule">
            <a:extLst xmlns:a="http://schemas.openxmlformats.org/drawingml/2006/main">
              <a:ext uri="{FF2B5EF4-FFF2-40B4-BE49-F238E27FC236}">
                <a16:creationId xmlns:a16="http://schemas.microsoft.com/office/drawing/2014/main" id="{22A2DC8C-83B4-463C-A8A8-7F1B95B9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uthor-caption">
            <a:extLst xmlns:a="http://schemas.openxmlformats.org/drawingml/2006/main">
              <a:ext uri="{FF2B5EF4-FFF2-40B4-BE49-F238E27FC236}">
                <a16:creationId xmlns:a16="http://schemas.microsoft.com/office/drawing/2014/main" id="{E645F956-2DD8-4CCE-B945-04C58F86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0A6"/>
                </a:solidFill>
              </a:defRPr>
            </a:pPr>
            <a:r>
              <a:rPr sz="1425" b="0">
                <a:solidFill>
                  <a:srgbClr val="B7B0A6"/>
                </a:solidFill>
              </a:rPr>
              <a:t>Buried Dark World · Manual de juego y memoria de creación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D3E639E-5188-4F15-A66B-006574CB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7F186B-9B53-48B6-9FE6-51511620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2882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485F061-4E7C-4E41-A24F-3451B4C2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LA PROMESA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2F62B5-F8B9-4246-9087-00A091F4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Cada partida abre un mundo distinto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69F476F-CADF-4CE6-BCD6-55476B9C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ig-claim">
            <a:extLst xmlns:a="http://schemas.openxmlformats.org/drawingml/2006/main">
              <a:ext uri="{FF2B5EF4-FFF2-40B4-BE49-F238E27FC236}">
                <a16:creationId xmlns:a16="http://schemas.microsoft.com/office/drawing/2014/main" id="{80ECF11C-ACA9-41A0-A2C0-0F38A1A2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657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EFE8"/>
                </a:solidFill>
              </a:defRPr>
            </a:pPr>
            <a:r>
              <a:rPr sz="2850" b="1">
                <a:solidFill>
                  <a:srgbClr val="F3EFE8"/>
                </a:solidFill>
              </a:rPr>
              <a:t>Un laberinto oscuro, cambiante y visto en primera persona.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2869C83-7C1E-4722-B7FC-12838C33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B0A6"/>
                </a:solidFill>
              </a:defRPr>
            </a:pPr>
            <a:r>
              <a:rPr sz="1725" b="0">
                <a:solidFill>
                  <a:srgbClr val="B7B0A6"/>
                </a:solidFill>
              </a:rPr>
              <a:t>Buried Dark World propone avanzar habitación a habitación, orientarse con muy poca información y decidir cuándo seguir descendiendo. La salida nunca se encuentra por costumbre: cada nueva partida vuelve a ordenar el peligro.</a:t>
            </a:r>
          </a:p>
        </p:txBody>
      </p:sp>
      <p:sp>
        <p:nvSpPr>
          <p:cNvPr id="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7F8CCAA3-AF96-4B72-BDC3-83A024E1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238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sp>
        <p:nvSpPr>
          <p:cNvPr id="7" name="quote">
            <a:extLst xmlns:a="http://schemas.openxmlformats.org/drawingml/2006/main">
              <a:ext uri="{FF2B5EF4-FFF2-40B4-BE49-F238E27FC236}">
                <a16:creationId xmlns:a16="http://schemas.microsoft.com/office/drawing/2014/main" id="{09F77897-A176-4F9A-B8A9-BC93EF2F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3EFE8"/>
                </a:solidFill>
              </a:defRPr>
            </a:pPr>
            <a:r>
              <a:rPr sz="2250" b="1">
                <a:solidFill>
                  <a:srgbClr val="F3EFE8"/>
                </a:solidFill>
              </a:rPr>
              <a:t>“Encontrar la salida mientras diferentes enemigos intentan impedírtelo.”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BF90811-12E8-41E7-A5B8-0E1D08A0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E40534-9769-4C9A-8CF6-F9855059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3570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4972115-9561-4CCE-B8B0-D56AB843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LA MISIÓN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60E801-1F41-4630-AD09-F677931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Tu objetivo está en el nivel más profundo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F48519-A978-44F5-A406-0804055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ission">
            <a:extLst xmlns:a="http://schemas.openxmlformats.org/drawingml/2006/main">
              <a:ext uri="{FF2B5EF4-FFF2-40B4-BE49-F238E27FC236}">
                <a16:creationId xmlns:a16="http://schemas.microsoft.com/office/drawing/2014/main" id="{B29365B0-9E32-4E90-9167-F77FC15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EFE8"/>
                </a:solidFill>
              </a:defRPr>
            </a:pPr>
            <a:r>
              <a:rPr sz="2850" b="1">
                <a:solidFill>
                  <a:srgbClr val="F3EFE8"/>
                </a:solidFill>
              </a:rPr>
              <a:t>Descender por cinco niveles, sobrevivir a sus habitantes y derrotar al orco que aguarda al final.</a:t>
            </a:r>
          </a:p>
        </p:txBody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B53A641-90AF-4B02-9192-5E3C058B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9F1D20"/>
                </a:solidFill>
              </a:defRPr>
            </a:pPr>
            <a:r>
              <a:rPr sz="2625" b="1">
                <a:solidFill>
                  <a:srgbClr val="9F1D20"/>
                </a:solidFill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1D86B6A7-6333-4C9F-AD4E-B3262233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EFE8"/>
                </a:solidFill>
              </a:defRPr>
            </a:pPr>
            <a:r>
              <a:rPr sz="1800" b="1">
                <a:solidFill>
                  <a:srgbClr val="F3EFE8"/>
                </a:solidFill>
              </a:rPr>
              <a:t>Explora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4AFB7836-98FB-4AC0-9CCE-570A9AA4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0A6"/>
                </a:solidFill>
              </a:defRPr>
            </a:pPr>
            <a:r>
              <a:rPr sz="1350" b="0">
                <a:solidFill>
                  <a:srgbClr val="B7B0A6"/>
                </a:solidFill>
              </a:rPr>
              <a:t>Abre camino y descubre el minimapa.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A38C502-ECCA-4592-BAAC-98875F13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9F1D20"/>
                </a:solidFill>
              </a:defRPr>
            </a:pPr>
            <a:r>
              <a:rPr sz="2625" b="1">
                <a:solidFill>
                  <a:srgbClr val="9F1D20"/>
                </a:solidFill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EC0AEB4E-3A8F-4C44-B63A-DF3F7FDF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EFE8"/>
                </a:solidFill>
              </a:defRPr>
            </a:pPr>
            <a:r>
              <a:rPr sz="1800" b="1">
                <a:solidFill>
                  <a:srgbClr val="F3EFE8"/>
                </a:solidFill>
              </a:rPr>
              <a:t>Desciende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94E9344-99A2-4EF9-8F4E-1F24C12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14875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0A6"/>
                </a:solidFill>
              </a:defRPr>
            </a:pPr>
            <a:r>
              <a:rPr sz="1350" b="0">
                <a:solidFill>
                  <a:srgbClr val="B7B0A6"/>
                </a:solidFill>
              </a:rPr>
              <a:t>Encuentra las escaleras hacia el siguiente nivel.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2D37A7E-AF50-4A77-95FC-028E6E8F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9F1D20"/>
                </a:solidFill>
              </a:defRPr>
            </a:pPr>
            <a:r>
              <a:rPr sz="2625" b="1">
                <a:solidFill>
                  <a:srgbClr val="9F1D20"/>
                </a:solidFill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FC40E8C-FD41-405B-8E84-64AC2A81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EFE8"/>
                </a:solidFill>
              </a:defRPr>
            </a:pPr>
            <a:r>
              <a:rPr sz="1800" b="1">
                <a:solidFill>
                  <a:srgbClr val="F3EFE8"/>
                </a:solidFill>
              </a:rPr>
              <a:t>Sobrevive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99B9294-DBB2-4DF6-9FD4-8CA73BB2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14875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0A6"/>
                </a:solidFill>
              </a:defRPr>
            </a:pPr>
            <a:r>
              <a:rPr sz="1350" b="0">
                <a:solidFill>
                  <a:srgbClr val="B7B0A6"/>
                </a:solidFill>
              </a:rPr>
              <a:t>Gestiona tu salud y aprovecha las pociones.</a:t>
            </a:r>
          </a:p>
        </p:txBody>
      </p:sp>
      <p:sp>
        <p:nvSpPr>
          <p:cNvPr id="1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6E93FBE-4E8C-4D82-87E7-7CE7CE23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9F1D20"/>
                </a:solidFill>
              </a:defRPr>
            </a:pPr>
            <a:r>
              <a:rPr sz="2625" b="1">
                <a:solidFill>
                  <a:srgbClr val="9F1D20"/>
                </a:solidFill>
              </a:rPr>
              <a:t>4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54C23D6-9EC9-49CB-939D-65856E23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EFE8"/>
                </a:solidFill>
              </a:defRPr>
            </a:pPr>
            <a:r>
              <a:rPr sz="1800" b="1">
                <a:solidFill>
                  <a:srgbClr val="F3EFE8"/>
                </a:solidFill>
              </a:rPr>
              <a:t>Vence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25E1404-8BBA-4E3D-BFCA-D40A673E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14875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0A6"/>
                </a:solidFill>
              </a:defRPr>
            </a:pPr>
            <a:r>
              <a:rPr sz="1350" b="0">
                <a:solidFill>
                  <a:srgbClr val="B7B0A6"/>
                </a:solidFill>
              </a:rPr>
              <a:t>Enfréntate al jefe final y completa la aventura.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6FE9CF77-ACE3-4FFA-8DD9-9E7DD37B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98514B-E0AC-48D8-9CFB-2267297C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5653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54728DFB-A33F-414C-BED9-4C58004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CÓMO JUGAR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5470E8-D794-4F0B-84A0-66F12F3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Cuatro teclas bastan para orientarte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9131A2-9761-4875-ACE6-1097A203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rols-surface">
            <a:extLst xmlns:a="http://schemas.openxmlformats.org/drawingml/2006/main">
              <a:ext uri="{FF2B5EF4-FFF2-40B4-BE49-F238E27FC236}">
                <a16:creationId xmlns:a16="http://schemas.microsoft.com/office/drawing/2014/main" id="{EDCB2A95-4EAA-41D9-908D-EE694DA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sp>
        <p:nvSpPr>
          <p:cNvPr id="5" name="key-0">
            <a:extLst xmlns:a="http://schemas.openxmlformats.org/drawingml/2006/main">
              <a:ext uri="{FF2B5EF4-FFF2-40B4-BE49-F238E27FC236}">
                <a16:creationId xmlns:a16="http://schemas.microsoft.com/office/drawing/2014/main" id="{ECC19B40-3659-4F56-92C8-EF563525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590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sp>
        <p:nvSpPr>
          <p:cNvPr id="6" name="key-symbol-0">
            <a:extLst xmlns:a="http://schemas.openxmlformats.org/drawingml/2006/main">
              <a:ext uri="{FF2B5EF4-FFF2-40B4-BE49-F238E27FC236}">
                <a16:creationId xmlns:a16="http://schemas.microsoft.com/office/drawing/2014/main" id="{0CD19139-190A-494F-88D8-EE111A93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3EFE8"/>
                </a:solidFill>
              </a:defRPr>
            </a:pPr>
            <a:r>
              <a:rPr sz="2250" b="1">
                <a:solidFill>
                  <a:srgbClr val="F3EFE8"/>
                </a:solidFill>
              </a:rPr>
              <a:t>↑</a:t>
            </a:r>
          </a:p>
        </p:txBody>
      </p:sp>
      <p:sp>
        <p:nvSpPr>
          <p:cNvPr id="7" name="key-label-0">
            <a:extLst xmlns:a="http://schemas.openxmlformats.org/drawingml/2006/main">
              <a:ext uri="{FF2B5EF4-FFF2-40B4-BE49-F238E27FC236}">
                <a16:creationId xmlns:a16="http://schemas.microsoft.com/office/drawing/2014/main" id="{D9056D56-4983-4C7F-A69C-9368F90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FE8"/>
                </a:solidFill>
              </a:defRPr>
            </a:pPr>
            <a:r>
              <a:rPr sz="1575" b="0">
                <a:solidFill>
                  <a:srgbClr val="F3EFE8"/>
                </a:solidFill>
              </a:rPr>
              <a:t>Avanzar una habitación</a:t>
            </a:r>
          </a:p>
        </p:txBody>
      </p:sp>
      <p:sp>
        <p:nvSpPr>
          <p:cNvPr id="8" name="key-1">
            <a:extLst xmlns:a="http://schemas.openxmlformats.org/drawingml/2006/main">
              <a:ext uri="{FF2B5EF4-FFF2-40B4-BE49-F238E27FC236}">
                <a16:creationId xmlns:a16="http://schemas.microsoft.com/office/drawing/2014/main" id="{7E2A8605-57E6-42FA-9E50-4B0E2645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590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sp>
        <p:nvSpPr>
          <p:cNvPr id="9" name="key-symbol-1">
            <a:extLst xmlns:a="http://schemas.openxmlformats.org/drawingml/2006/main">
              <a:ext uri="{FF2B5EF4-FFF2-40B4-BE49-F238E27FC236}">
                <a16:creationId xmlns:a16="http://schemas.microsoft.com/office/drawing/2014/main" id="{FA5241AB-0D04-43C4-9CBA-21191AAE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3EFE8"/>
                </a:solidFill>
              </a:defRPr>
            </a:pPr>
            <a:r>
              <a:rPr sz="2250" b="1">
                <a:solidFill>
                  <a:srgbClr val="F3EFE8"/>
                </a:solidFill>
              </a:rPr>
              <a:t>↓</a:t>
            </a:r>
          </a:p>
        </p:txBody>
      </p:sp>
      <p:sp>
        <p:nvSpPr>
          <p:cNvPr id="10" name="key-label-1">
            <a:extLst xmlns:a="http://schemas.openxmlformats.org/drawingml/2006/main">
              <a:ext uri="{FF2B5EF4-FFF2-40B4-BE49-F238E27FC236}">
                <a16:creationId xmlns:a16="http://schemas.microsoft.com/office/drawing/2014/main" id="{F00800DB-4D26-4903-8EED-DF310D9E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289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FE8"/>
                </a:solidFill>
              </a:defRPr>
            </a:pPr>
            <a:r>
              <a:rPr sz="1575" b="0">
                <a:solidFill>
                  <a:srgbClr val="F3EFE8"/>
                </a:solidFill>
              </a:rPr>
              <a:t>Retroceder sin cambiar la mirada</a:t>
            </a:r>
          </a:p>
        </p:txBody>
      </p:sp>
      <p:sp>
        <p:nvSpPr>
          <p:cNvPr id="11" name="key-2">
            <a:extLst xmlns:a="http://schemas.openxmlformats.org/drawingml/2006/main">
              <a:ext uri="{FF2B5EF4-FFF2-40B4-BE49-F238E27FC236}">
                <a16:creationId xmlns:a16="http://schemas.microsoft.com/office/drawing/2014/main" id="{BD7B364E-6F08-4048-817B-FACFA1A4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590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sp>
        <p:nvSpPr>
          <p:cNvPr id="12" name="key-symbol-2">
            <a:extLst xmlns:a="http://schemas.openxmlformats.org/drawingml/2006/main">
              <a:ext uri="{FF2B5EF4-FFF2-40B4-BE49-F238E27FC236}">
                <a16:creationId xmlns:a16="http://schemas.microsoft.com/office/drawing/2014/main" id="{20B886FA-40F0-4BF8-A47D-3AE9DB4D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3EFE8"/>
                </a:solidFill>
              </a:defRPr>
            </a:pPr>
            <a:r>
              <a:rPr sz="2250" b="1">
                <a:solidFill>
                  <a:srgbClr val="F3EFE8"/>
                </a:solidFill>
              </a:rPr>
              <a:t>←</a:t>
            </a:r>
          </a:p>
        </p:txBody>
      </p:sp>
      <p:sp>
        <p:nvSpPr>
          <p:cNvPr id="13" name="key-label-2">
            <a:extLst xmlns:a="http://schemas.openxmlformats.org/drawingml/2006/main">
              <a:ext uri="{FF2B5EF4-FFF2-40B4-BE49-F238E27FC236}">
                <a16:creationId xmlns:a16="http://schemas.microsoft.com/office/drawing/2014/main" id="{B188A1C5-EEA2-4730-B8EB-96FF7963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FE8"/>
                </a:solidFill>
              </a:defRPr>
            </a:pPr>
            <a:r>
              <a:rPr sz="1575" b="0">
                <a:solidFill>
                  <a:srgbClr val="F3EFE8"/>
                </a:solidFill>
              </a:rPr>
              <a:t>Girar 90° a la izquierda</a:t>
            </a:r>
          </a:p>
        </p:txBody>
      </p:sp>
      <p:sp>
        <p:nvSpPr>
          <p:cNvPr id="14" name="key-3">
            <a:extLst xmlns:a="http://schemas.openxmlformats.org/drawingml/2006/main">
              <a:ext uri="{FF2B5EF4-FFF2-40B4-BE49-F238E27FC236}">
                <a16:creationId xmlns:a16="http://schemas.microsoft.com/office/drawing/2014/main" id="{5EF91CC5-0CD6-4587-A8E0-E16CEF28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590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sp>
        <p:nvSpPr>
          <p:cNvPr id="15" name="key-symbol-3">
            <a:extLst xmlns:a="http://schemas.openxmlformats.org/drawingml/2006/main">
              <a:ext uri="{FF2B5EF4-FFF2-40B4-BE49-F238E27FC236}">
                <a16:creationId xmlns:a16="http://schemas.microsoft.com/office/drawing/2014/main" id="{4AE72A80-A39E-4EA3-B3DD-BBE126D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3EFE8"/>
                </a:solidFill>
              </a:defRPr>
            </a:pPr>
            <a:r>
              <a:rPr sz="2250" b="1">
                <a:solidFill>
                  <a:srgbClr val="F3EFE8"/>
                </a:solidFill>
              </a:rPr>
              <a:t>→</a:t>
            </a:r>
          </a:p>
        </p:txBody>
      </p:sp>
      <p:sp>
        <p:nvSpPr>
          <p:cNvPr id="16" name="key-label-3">
            <a:extLst xmlns:a="http://schemas.openxmlformats.org/drawingml/2006/main">
              <a:ext uri="{FF2B5EF4-FFF2-40B4-BE49-F238E27FC236}">
                <a16:creationId xmlns:a16="http://schemas.microsoft.com/office/drawing/2014/main" id="{26779F28-ED33-489E-A333-CC3B4223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FE8"/>
                </a:solidFill>
              </a:defRPr>
            </a:pPr>
            <a:r>
              <a:rPr sz="1575" b="0">
                <a:solidFill>
                  <a:srgbClr val="F3EFE8"/>
                </a:solidFill>
              </a:rPr>
              <a:t>Girar 90° a la derecha</a:t>
            </a:r>
          </a:p>
        </p:txBody>
      </p:sp>
      <p:sp>
        <p:nvSpPr>
          <p:cNvPr id="17" name="control-claim">
            <a:extLst xmlns:a="http://schemas.openxmlformats.org/drawingml/2006/main">
              <a:ext uri="{FF2B5EF4-FFF2-40B4-BE49-F238E27FC236}">
                <a16:creationId xmlns:a16="http://schemas.microsoft.com/office/drawing/2014/main" id="{2DEC4664-274A-4688-B07D-4C914A0B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EFE8"/>
                </a:solidFill>
              </a:defRPr>
            </a:pPr>
            <a:r>
              <a:rPr sz="2700" b="1">
                <a:solidFill>
                  <a:srgbClr val="F3EFE8"/>
                </a:solidFill>
              </a:rPr>
              <a:t>El movimiento es deliberado: una casilla cada vez, una decisión cada vez.</a:t>
            </a:r>
          </a:p>
        </p:txBody>
      </p:sp>
      <p:sp>
        <p:nvSpPr>
          <p:cNvPr id="18" name="control-tip">
            <a:extLst xmlns:a="http://schemas.openxmlformats.org/drawingml/2006/main">
              <a:ext uri="{FF2B5EF4-FFF2-40B4-BE49-F238E27FC236}">
                <a16:creationId xmlns:a16="http://schemas.microsoft.com/office/drawing/2014/main" id="{17595A80-EA1E-4782-B779-0AEB1B9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B0A6"/>
                </a:solidFill>
              </a:defRPr>
            </a:pPr>
            <a:r>
              <a:rPr sz="1725" b="0">
                <a:solidFill>
                  <a:srgbClr val="B7B0A6"/>
                </a:solidFill>
              </a:rPr>
              <a:t>Consejo: gira antes de avanzar. La dirección de tu mirada decide qué enemigo puedes atacar.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B01FB34A-4AED-40AA-9A76-D9663CDC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47A646-92D1-4E6A-95BE-065DCFEE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5728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F96210D-C3D8-43A6-86D0-DE2379AE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DURANTE LA PARTIDA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C1D0D-A43C-4625-8EBA-1BF99712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La pantalla te dice qué ves y cuánto resistes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C10D91C-5E53-4D1F-95AE-1E674890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272358C-6D33-4759-A862-78BAD05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f55954b124baa"/>
          <a:stretch xmlns:a="http://schemas.openxmlformats.org/drawingml/2006/main"/>
        </p:blipFill>
        <p:spPr>
          <a:xfrm xmlns:a="http://schemas.openxmlformats.org/drawingml/2006/main">
            <a:off x="1092200" y="1695450"/>
            <a:ext cx="6273800" cy="4705350"/>
          </a:xfrm>
          <a:prstGeom xmlns:a="http://schemas.openxmlformats.org/drawingml/2006/main" prst="rect">
            <a:avLst/>
          </a:prstGeom>
        </p:spPr>
      </p:pic>
      <p:sp>
        <p:nvSpPr>
          <p:cNvPr id="6" name="screen-guide">
            <a:extLst xmlns:a="http://schemas.openxmlformats.org/drawingml/2006/main">
              <a:ext uri="{FF2B5EF4-FFF2-40B4-BE49-F238E27FC236}">
                <a16:creationId xmlns:a16="http://schemas.microsoft.com/office/drawing/2014/main" id="{5DA5CFDE-2599-4DF5-BCE1-0941D13C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FE8"/>
                </a:solidFill>
              </a:defRPr>
            </a:pPr>
            <a:r>
              <a:rPr sz="2025" b="1">
                <a:solidFill>
                  <a:srgbClr val="F3EFE8"/>
                </a:solidFill>
              </a:rPr>
              <a:t>Lee la pantalla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0AD90A0B-3214-4D97-8031-3DB55168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62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5B2DC21-DE7A-4E9F-9837-2AE7F48D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EFE8"/>
                </a:solidFill>
              </a:defRPr>
            </a:pPr>
            <a:r>
              <a:rPr sz="1425" b="0">
                <a:solidFill>
                  <a:srgbClr val="F3EFE8"/>
                </a:solidFill>
              </a:rPr>
              <a:t>La vista en primera persona muestra el camino inmediato.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51A317D3-D550-483B-8818-E78B4592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FE89BFB-2B1E-4559-AF94-FDB68BF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9565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EFE8"/>
                </a:solidFill>
              </a:defRPr>
            </a:pPr>
            <a:r>
              <a:rPr sz="1425" b="0">
                <a:solidFill>
                  <a:srgbClr val="F3EFE8"/>
                </a:solidFill>
              </a:rPr>
              <a:t>La barra roja resume tu salud.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6213B073-E5E0-4F04-B689-4EC3C189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00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C232ED4-15D4-4C81-B321-7DD2C5A1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148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EFE8"/>
                </a:solidFill>
              </a:defRPr>
            </a:pPr>
            <a:r>
              <a:rPr sz="1425" b="0">
                <a:solidFill>
                  <a:srgbClr val="F3EFE8"/>
                </a:solidFill>
              </a:rPr>
              <a:t>El minimapa revela solo lo que ya has visto.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5BF56C2A-197B-4562-BF41-BD95CFB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19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A1F4FED-578B-461C-996E-91EBE47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3395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EFE8"/>
                </a:solidFill>
              </a:defRPr>
            </a:pPr>
            <a:r>
              <a:rPr sz="1425" b="0">
                <a:solidFill>
                  <a:srgbClr val="F3EFE8"/>
                </a:solidFill>
              </a:rPr>
              <a:t>El registro conserva los últimos ataques.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11929A5B-97E3-4F6C-86CF-08B7A808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11B15C-127A-4FF9-9483-542AA05A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8047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85A1620E-F51E-4F73-A7C9-B737361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EL LABERINTO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D2D687-3001-4D1A-A765-D0CCC2F8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Explorar significa aprender un mapa que nunca se repite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36F8DC-0BEC-4FA2-BD63-019EA0F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ze-body">
            <a:extLst xmlns:a="http://schemas.openxmlformats.org/drawingml/2006/main">
              <a:ext uri="{FF2B5EF4-FFF2-40B4-BE49-F238E27FC236}">
                <a16:creationId xmlns:a16="http://schemas.microsoft.com/office/drawing/2014/main" id="{CA3115FA-8B46-4185-8928-A5D33961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7B0A6"/>
                </a:solidFill>
              </a:defRPr>
            </a:pPr>
            <a:r>
              <a:rPr sz="1875" b="0">
                <a:solidFill>
                  <a:srgbClr val="B7B0A6"/>
                </a:solidFill>
              </a:rPr>
              <a:t>Los niveles combinan pasillos y habitaciones. El minimapa empieza oculto y se completa al mirar y avanzar, de modo que recordar cruces y callejones forma parte de la aventura.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49ED776C-2CE6-475D-AE54-415976C5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D3FB9D46-4949-4407-B844-5E3A3C59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FE8"/>
                </a:solidFill>
              </a:defRPr>
            </a:pPr>
            <a:r>
              <a:rPr sz="1575" b="0">
                <a:solidFill>
                  <a:srgbClr val="F3EFE8"/>
                </a:solidFill>
              </a:rPr>
              <a:t>Cinco niveles de profundidad.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07E74950-2057-4C82-AC36-3666FC16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40BB1C9-E971-4365-ACAF-709B1C1C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FE8"/>
                </a:solidFill>
              </a:defRPr>
            </a:pPr>
            <a:r>
              <a:rPr sz="1575" b="0">
                <a:solidFill>
                  <a:srgbClr val="F3EFE8"/>
                </a:solidFill>
              </a:rPr>
              <a:t>Una distribución nueva en cada partida.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F32CDEB7-1DF3-4E6A-810D-810835E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63B20FF-4F1E-4214-90A2-F9D4E6D6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FE8"/>
                </a:solidFill>
              </a:defRPr>
            </a:pPr>
            <a:r>
              <a:rPr sz="1575" b="0">
                <a:solidFill>
                  <a:srgbClr val="F3EFE8"/>
                </a:solidFill>
              </a:rPr>
              <a:t>Escaleras rojas para bajar y azules para subir.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95DE46CF-1552-437F-B5AC-92B8B131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C219811-9E26-4D88-8C70-FE975114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FE8"/>
                </a:solidFill>
              </a:defRPr>
            </a:pPr>
            <a:r>
              <a:rPr sz="1575" b="0">
                <a:solidFill>
                  <a:srgbClr val="F3EFE8"/>
                </a:solidFill>
              </a:rPr>
              <a:t>El último tramo ya no ofrece una bajada.</a:t>
            </a:r>
          </a:p>
        </p:txBody>
      </p:sp>
      <p:sp>
        <p:nvSpPr>
          <p:cNvPr id="13" name="stairs-area">
            <a:extLst xmlns:a="http://schemas.openxmlformats.org/drawingml/2006/main">
              <a:ext uri="{FF2B5EF4-FFF2-40B4-BE49-F238E27FC236}">
                <a16:creationId xmlns:a16="http://schemas.microsoft.com/office/drawing/2014/main" id="{CC349159-3528-4EAF-A9E8-66444130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429000" cy="3714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722bdc06a4732"/>
          <a:stretch xmlns:a="http://schemas.openxmlformats.org/drawingml/2006/main"/>
        </p:blipFill>
        <p:spPr>
          <a:xfrm xmlns:a="http://schemas.openxmlformats.org/drawingml/2006/main">
            <a:off x="8048625" y="2286000"/>
            <a:ext cx="1333500" cy="13335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92cd11e6c49ac"/>
          <a:stretch xmlns:a="http://schemas.openxmlformats.org/drawingml/2006/main"/>
        </p:blipFill>
        <p:spPr>
          <a:xfrm xmlns:a="http://schemas.openxmlformats.org/drawingml/2006/main">
            <a:off x="9620250" y="22860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16" name="stairs-down-label">
            <a:extLst xmlns:a="http://schemas.openxmlformats.org/drawingml/2006/main">
              <a:ext uri="{FF2B5EF4-FFF2-40B4-BE49-F238E27FC236}">
                <a16:creationId xmlns:a16="http://schemas.microsoft.com/office/drawing/2014/main" id="{BAC1C8D7-499D-48FF-AE15-B56D9469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F1D20"/>
                </a:solidFill>
              </a:defRPr>
            </a:pPr>
            <a:r>
              <a:rPr sz="1500" b="1">
                <a:solidFill>
                  <a:srgbClr val="9F1D20"/>
                </a:solidFill>
              </a:rPr>
              <a:t>Bajar</a:t>
            </a:r>
          </a:p>
        </p:txBody>
      </p:sp>
      <p:sp>
        <p:nvSpPr>
          <p:cNvPr id="17" name="stairs-up-label">
            <a:extLst xmlns:a="http://schemas.openxmlformats.org/drawingml/2006/main">
              <a:ext uri="{FF2B5EF4-FFF2-40B4-BE49-F238E27FC236}">
                <a16:creationId xmlns:a16="http://schemas.microsoft.com/office/drawing/2014/main" id="{FC6BEC58-9B0F-4515-AF88-8EB3FCA3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05F85"/>
                </a:solidFill>
              </a:defRPr>
            </a:pPr>
            <a:r>
              <a:rPr sz="1500" b="1">
                <a:solidFill>
                  <a:srgbClr val="405F85"/>
                </a:solidFill>
              </a:rPr>
              <a:t>Subir</a:t>
            </a:r>
          </a:p>
        </p:txBody>
      </p:sp>
      <p:sp>
        <p:nvSpPr>
          <p:cNvPr id="18" name="stairs-caption">
            <a:extLst xmlns:a="http://schemas.openxmlformats.org/drawingml/2006/main">
              <a:ext uri="{FF2B5EF4-FFF2-40B4-BE49-F238E27FC236}">
                <a16:creationId xmlns:a16="http://schemas.microsoft.com/office/drawing/2014/main" id="{C50D0CA2-B915-47DC-B61A-95F85D9A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9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7B0A6"/>
                </a:solidFill>
              </a:defRPr>
            </a:pPr>
            <a:r>
              <a:rPr sz="1500" b="0">
                <a:solidFill>
                  <a:srgbClr val="B7B0A6"/>
                </a:solidFill>
              </a:rPr>
              <a:t>Cada escalera enlaza dos etapas de la misma expedición.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AA419497-2528-45B3-A2BA-B4EC49BC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6548BF-083E-4179-8FB0-5769E65B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0191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1C323C3-D361-48B6-8C0F-263E9D29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LOS ENEMIGOS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91D72F-80B5-4F21-878B-B338269C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Tres goblins cambian el ritmo de cada encuentro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170D02-55DE-4F57-85F1-5D7ADF3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nemy-ground-0">
            <a:extLst xmlns:a="http://schemas.openxmlformats.org/drawingml/2006/main">
              <a:ext uri="{FF2B5EF4-FFF2-40B4-BE49-F238E27FC236}">
                <a16:creationId xmlns:a16="http://schemas.microsoft.com/office/drawing/2014/main" id="{99864C67-2088-4F5F-B964-8B997DA0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857500" cy="3238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52396af6d47b6"/>
          <a:stretch xmlns:a="http://schemas.openxmlformats.org/drawingml/2006/main"/>
        </p:blipFill>
        <p:spPr>
          <a:xfrm xmlns:a="http://schemas.openxmlformats.org/drawingml/2006/main">
            <a:off x="1238250" y="2143125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6" name="enemy-name-0">
            <a:extLst xmlns:a="http://schemas.openxmlformats.org/drawingml/2006/main">
              <a:ext uri="{FF2B5EF4-FFF2-40B4-BE49-F238E27FC236}">
                <a16:creationId xmlns:a16="http://schemas.microsoft.com/office/drawing/2014/main" id="{351C59DC-2851-40F4-B5EE-86F8CD83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EFE8"/>
                </a:solidFill>
              </a:defRPr>
            </a:pPr>
            <a:r>
              <a:rPr sz="1650" b="1">
                <a:solidFill>
                  <a:srgbClr val="F3EFE8"/>
                </a:solidFill>
              </a:rPr>
              <a:t>Goblin con espada</a:t>
            </a:r>
          </a:p>
        </p:txBody>
      </p:sp>
      <p:sp>
        <p:nvSpPr>
          <p:cNvPr id="7" name="enemy-ground-1">
            <a:extLst xmlns:a="http://schemas.openxmlformats.org/drawingml/2006/main">
              <a:ext uri="{FF2B5EF4-FFF2-40B4-BE49-F238E27FC236}">
                <a16:creationId xmlns:a16="http://schemas.microsoft.com/office/drawing/2014/main" id="{86D3FD31-6530-4C18-AA4B-AD09615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57500" cy="3238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ff40d7c0645a2"/>
          <a:stretch xmlns:a="http://schemas.openxmlformats.org/drawingml/2006/main"/>
        </p:blipFill>
        <p:spPr>
          <a:xfrm xmlns:a="http://schemas.openxmlformats.org/drawingml/2006/main">
            <a:off x="5019675" y="2143125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9" name="enemy-name-1">
            <a:extLst xmlns:a="http://schemas.openxmlformats.org/drawingml/2006/main">
              <a:ext uri="{FF2B5EF4-FFF2-40B4-BE49-F238E27FC236}">
                <a16:creationId xmlns:a16="http://schemas.microsoft.com/office/drawing/2014/main" id="{4085C393-A8D5-4221-87A4-C8058E8B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438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EFE8"/>
                </a:solidFill>
              </a:defRPr>
            </a:pPr>
            <a:r>
              <a:rPr sz="1650" b="1">
                <a:solidFill>
                  <a:srgbClr val="F3EFE8"/>
                </a:solidFill>
              </a:rPr>
              <a:t>Goblin con lanza</a:t>
            </a:r>
          </a:p>
        </p:txBody>
      </p:sp>
      <p:sp>
        <p:nvSpPr>
          <p:cNvPr id="10" name="enemy-ground-2">
            <a:extLst xmlns:a="http://schemas.openxmlformats.org/drawingml/2006/main">
              <a:ext uri="{FF2B5EF4-FFF2-40B4-BE49-F238E27FC236}">
                <a16:creationId xmlns:a16="http://schemas.microsoft.com/office/drawing/2014/main" id="{207E85EB-BB31-4C20-B58F-6CD2C5BB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2857500" cy="3238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3a6e2a4454078"/>
          <a:stretch xmlns:a="http://schemas.openxmlformats.org/drawingml/2006/main"/>
        </p:blipFill>
        <p:spPr>
          <a:xfrm xmlns:a="http://schemas.openxmlformats.org/drawingml/2006/main">
            <a:off x="8801100" y="2143125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12" name="enemy-name-2">
            <a:extLst xmlns:a="http://schemas.openxmlformats.org/drawingml/2006/main">
              <a:ext uri="{FF2B5EF4-FFF2-40B4-BE49-F238E27FC236}">
                <a16:creationId xmlns:a16="http://schemas.microsoft.com/office/drawing/2014/main" id="{78B48EB0-A55C-4D4E-859E-FC07BC52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EFE8"/>
                </a:solidFill>
              </a:defRPr>
            </a:pPr>
            <a:r>
              <a:rPr sz="1650" b="1">
                <a:solidFill>
                  <a:srgbClr val="F3EFE8"/>
                </a:solidFill>
              </a:rPr>
              <a:t>Goblin con hacha</a:t>
            </a:r>
          </a:p>
        </p:txBody>
      </p:sp>
      <p:sp>
        <p:nvSpPr>
          <p:cNvPr id="13" name="enemy-caption">
            <a:extLst xmlns:a="http://schemas.openxmlformats.org/drawingml/2006/main">
              <a:ext uri="{FF2B5EF4-FFF2-40B4-BE49-F238E27FC236}">
                <a16:creationId xmlns:a16="http://schemas.microsoft.com/office/drawing/2014/main" id="{9063E051-0C53-425D-AC56-9F933975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B7B0A6"/>
                </a:solidFill>
              </a:defRPr>
            </a:pPr>
            <a:r>
              <a:rPr sz="1725" b="0">
                <a:solidFill>
                  <a:srgbClr val="B7B0A6"/>
                </a:solidFill>
              </a:rPr>
              <a:t>Cuanto más profundo desciendes, mayor es la concentración de amenazas.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6E7CDF17-3C6F-4869-9E4D-F6F0150E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C84207-AB90-429E-B30A-B06203C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1179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1B39962-3313-4AFE-A961-11E2E99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ENFRENTAMIENTOS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FF0254-96D6-4391-AAEF-33E51382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El combate comienza cuando ya no hay distancia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291BC83-0CC9-43E6-9E83-BBF55158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mbat-claim">
            <a:extLst xmlns:a="http://schemas.openxmlformats.org/drawingml/2006/main">
              <a:ext uri="{FF2B5EF4-FFF2-40B4-BE49-F238E27FC236}">
                <a16:creationId xmlns:a16="http://schemas.microsoft.com/office/drawing/2014/main" id="{EA36CF87-1899-4863-88C2-EB16484C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FE8"/>
                </a:solidFill>
              </a:defRPr>
            </a:pPr>
            <a:r>
              <a:rPr sz="2550" b="1">
                <a:solidFill>
                  <a:srgbClr val="F3EFE8"/>
                </a:solidFill>
              </a:rPr>
              <a:t>No necesitas pulsar un botón de ataque.</a:t>
            </a:r>
          </a:p>
        </p:txBody>
      </p:sp>
      <p:sp>
        <p:nvSpPr>
          <p:cNvPr id="5" name="combat-body">
            <a:extLst xmlns:a="http://schemas.openxmlformats.org/drawingml/2006/main">
              <a:ext uri="{FF2B5EF4-FFF2-40B4-BE49-F238E27FC236}">
                <a16:creationId xmlns:a16="http://schemas.microsoft.com/office/drawing/2014/main" id="{B3FD7529-E99C-405F-8313-7119DC3C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6048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B0A6"/>
                </a:solidFill>
              </a:defRPr>
            </a:pPr>
            <a:r>
              <a:rPr sz="1800" b="0">
                <a:solidFill>
                  <a:srgbClr val="B7B0A6"/>
                </a:solidFill>
              </a:rPr>
              <a:t>Si un enemigo ocupa una habitación contigua, te atacará. Si además está justo frente a ti, responderás automáticamente. Alejarse interrumpe el intercambio; girarse cambia el objetivo.</a:t>
            </a:r>
          </a:p>
        </p:txBody>
      </p:sp>
      <p:sp>
        <p:nvSpPr>
          <p:cNvPr id="6" name="combat-rule">
            <a:extLst xmlns:a="http://schemas.openxmlformats.org/drawingml/2006/main">
              <a:ext uri="{FF2B5EF4-FFF2-40B4-BE49-F238E27FC236}">
                <a16:creationId xmlns:a16="http://schemas.microsoft.com/office/drawing/2014/main" id="{43064CD1-50B1-4410-AB77-B9014F17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0957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sp>
        <p:nvSpPr>
          <p:cNvPr id="7" name="combat-rule-title">
            <a:extLst xmlns:a="http://schemas.openxmlformats.org/drawingml/2006/main">
              <a:ext uri="{FF2B5EF4-FFF2-40B4-BE49-F238E27FC236}">
                <a16:creationId xmlns:a16="http://schemas.microsoft.com/office/drawing/2014/main" id="{85A37D18-D04B-40D6-8977-A30B4A7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F1D20"/>
                </a:solidFill>
              </a:defRPr>
            </a:pPr>
            <a:r>
              <a:rPr sz="1950" b="1">
                <a:solidFill>
                  <a:srgbClr val="9F1D20"/>
                </a:solidFill>
              </a:rPr>
              <a:t>Regla esencial</a:t>
            </a:r>
          </a:p>
        </p:txBody>
      </p:sp>
      <p:sp>
        <p:nvSpPr>
          <p:cNvPr id="8" name="combat-rule-copy">
            <a:extLst xmlns:a="http://schemas.openxmlformats.org/drawingml/2006/main">
              <a:ext uri="{FF2B5EF4-FFF2-40B4-BE49-F238E27FC236}">
                <a16:creationId xmlns:a16="http://schemas.microsoft.com/office/drawing/2014/main" id="{04666FF1-F030-48C4-8ECB-2EFAA0F6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05125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3EFE8"/>
                </a:solidFill>
              </a:defRPr>
            </a:pPr>
            <a:r>
              <a:rPr sz="2175" b="1">
                <a:solidFill>
                  <a:srgbClr val="F3EFE8"/>
                </a:solidFill>
              </a:rPr>
              <a:t>Enemigo al lado</a:t>
            </a:r>
          </a:p>
          <a:p xmlns:a="http://schemas.openxmlformats.org/drawingml/2006/main">
            <a:pPr algn="ctr">
              <a:defRPr sz="2175" b="1">
                <a:solidFill>
                  <a:srgbClr val="F3EFE8"/>
                </a:solidFill>
              </a:defRPr>
            </a:pPr>
            <a:r>
              <a:rPr sz="2175" b="1">
                <a:solidFill>
                  <a:srgbClr val="F3EFE8"/>
                </a:solidFill>
              </a:rPr>
              <a:t>= recibes ataques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3EFE8"/>
                </a:solidFill>
              </a:defRPr>
            </a:pPr>
            <a:r>
              <a:rPr sz="2175" b="1">
                <a:solidFill>
                  <a:srgbClr val="F3EFE8"/>
                </a:solidFill>
              </a:rPr>
              <a:t>Enemigo enfrente</a:t>
            </a:r>
          </a:p>
          <a:p xmlns:a="http://schemas.openxmlformats.org/drawingml/2006/main">
            <a:pPr algn="ctr">
              <a:defRPr sz="2175" b="1">
                <a:solidFill>
                  <a:srgbClr val="F3EFE8"/>
                </a:solidFill>
              </a:defRPr>
            </a:pPr>
            <a:r>
              <a:rPr sz="2175" b="1">
                <a:solidFill>
                  <a:srgbClr val="F3EFE8"/>
                </a:solidFill>
              </a:rPr>
              <a:t>= ambos atacáis</a:t>
            </a:r>
          </a:p>
        </p:txBody>
      </p:sp>
      <p:sp>
        <p:nvSpPr>
          <p:cNvPr id="9" name="combat-sound">
            <a:extLst xmlns:a="http://schemas.openxmlformats.org/drawingml/2006/main">
              <a:ext uri="{FF2B5EF4-FFF2-40B4-BE49-F238E27FC236}">
                <a16:creationId xmlns:a16="http://schemas.microsoft.com/office/drawing/2014/main" id="{2172B710-4188-409D-BF10-E1157FD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3EFE8"/>
                </a:solidFill>
              </a:defRPr>
            </a:pPr>
            <a:r>
              <a:rPr sz="1650" b="0">
                <a:solidFill>
                  <a:srgbClr val="F3EFE8"/>
                </a:solidFill>
              </a:rPr>
              <a:t>Los golpes se oyen, las criaturas tiemblan y el registro conserva los cinco mensajes más recientes.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3E6532BB-D512-458B-BF20-BDF1E6F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41F92A-3E42-49C0-A21B-FEF40301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03927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7BF524F-B94B-4182-A369-54B0F28C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RECUPERAR FUERZAS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66DAE0-F791-405C-8BC6-4969D315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Las pociones convierten la exploración en supervivencia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4152CC-CD98-43B6-8A2A-D0848B5E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47613a17a44be"/>
          <a:stretch xmlns:a="http://schemas.openxmlformats.org/drawingml/2006/main"/>
        </p:blipFill>
        <p:spPr>
          <a:xfrm xmlns:a="http://schemas.openxmlformats.org/drawingml/2006/main">
            <a:off x="1285875" y="1905000"/>
            <a:ext cx="24765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potion-count">
            <a:extLst xmlns:a="http://schemas.openxmlformats.org/drawingml/2006/main">
              <a:ext uri="{FF2B5EF4-FFF2-40B4-BE49-F238E27FC236}">
                <a16:creationId xmlns:a16="http://schemas.microsoft.com/office/drawing/2014/main" id="{B89DE840-1653-49DB-A7D1-90D7226B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9F1D20"/>
                </a:solidFill>
              </a:defRPr>
            </a:pPr>
            <a:r>
              <a:rPr sz="5550" b="1">
                <a:solidFill>
                  <a:srgbClr val="9F1D20"/>
                </a:solidFill>
              </a:rPr>
              <a:t>5</a:t>
            </a:r>
          </a:p>
        </p:txBody>
      </p:sp>
      <p:sp>
        <p:nvSpPr>
          <p:cNvPr id="6" name="potion-label">
            <a:extLst xmlns:a="http://schemas.openxmlformats.org/drawingml/2006/main">
              <a:ext uri="{FF2B5EF4-FFF2-40B4-BE49-F238E27FC236}">
                <a16:creationId xmlns:a16="http://schemas.microsoft.com/office/drawing/2014/main" id="{FB6E1E0A-7406-4E8E-BA2E-F8D4FB3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FE8"/>
                </a:solidFill>
              </a:defRPr>
            </a:pPr>
            <a:r>
              <a:rPr sz="2025" b="1">
                <a:solidFill>
                  <a:srgbClr val="F3EFE8"/>
                </a:solidFill>
              </a:rPr>
              <a:t>pociones por nivel</a:t>
            </a:r>
          </a:p>
        </p:txBody>
      </p:sp>
      <p:sp>
        <p:nvSpPr>
          <p:cNvPr id="7" name="potion-body">
            <a:extLst xmlns:a="http://schemas.openxmlformats.org/drawingml/2006/main">
              <a:ext uri="{FF2B5EF4-FFF2-40B4-BE49-F238E27FC236}">
                <a16:creationId xmlns:a16="http://schemas.microsoft.com/office/drawing/2014/main" id="{06F61F65-A6DA-4142-A7CA-30A6F303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7B0A6"/>
                </a:solidFill>
              </a:defRPr>
            </a:pPr>
            <a:r>
              <a:rPr sz="1875" b="0">
                <a:solidFill>
                  <a:srgbClr val="B7B0A6"/>
                </a:solidFill>
              </a:rPr>
              <a:t>Al entrar en la misma habitación, la poción desaparece y restaura por completo la salud. No hace falta activarla: basta con alcanzar su casilla.</a:t>
            </a:r>
          </a:p>
        </p:txBody>
      </p:sp>
      <p:sp>
        <p:nvSpPr>
          <p:cNvPr id="8" name="health-bar-border">
            <a:extLst xmlns:a="http://schemas.openxmlformats.org/drawingml/2006/main">
              <a:ext uri="{FF2B5EF4-FFF2-40B4-BE49-F238E27FC236}">
                <a16:creationId xmlns:a16="http://schemas.microsoft.com/office/drawing/2014/main" id="{BC92C10D-AA52-4037-B854-AD4F55AC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816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ealth-bar-fill">
            <a:extLst xmlns:a="http://schemas.openxmlformats.org/drawingml/2006/main">
              <a:ext uri="{FF2B5EF4-FFF2-40B4-BE49-F238E27FC236}">
                <a16:creationId xmlns:a16="http://schemas.microsoft.com/office/drawing/2014/main" id="{2B6AB94B-83CD-44B1-A766-2821EB18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438775"/>
            <a:ext cx="550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lth-caption">
            <a:extLst xmlns:a="http://schemas.openxmlformats.org/drawingml/2006/main">
              <a:ext uri="{FF2B5EF4-FFF2-40B4-BE49-F238E27FC236}">
                <a16:creationId xmlns:a16="http://schemas.microsoft.com/office/drawing/2014/main" id="{B6062589-A6B4-47E7-BF20-EAABEC21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B0A6"/>
                </a:solidFill>
              </a:defRPr>
            </a:pPr>
            <a:r>
              <a:rPr sz="1275" b="0">
                <a:solidFill>
                  <a:srgbClr val="B7B0A6"/>
                </a:solidFill>
              </a:rPr>
              <a:t>La barra de salud vuelve a llenarse.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6CB770F-2236-48A9-811B-039CACFB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2EC330-83AC-414C-9954-B37DC38E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28928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2c60b816648f8"/>
          <a:stretch xmlns:a="http://schemas.openxmlformats.org/drawingml/2006/main"/>
        </p:blipFill>
        <p:spPr>
          <a:xfrm xmlns:a="http://schemas.openxmlformats.org/drawingml/2006/main">
            <a:off x="6191250" y="762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2" name="boss-eyebrow">
            <a:extLst xmlns:a="http://schemas.openxmlformats.org/drawingml/2006/main">
              <a:ext uri="{FF2B5EF4-FFF2-40B4-BE49-F238E27FC236}">
                <a16:creationId xmlns:a16="http://schemas.microsoft.com/office/drawing/2014/main" id="{00EDF143-8A6B-4FCD-8B1A-77797E01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EL ÚLTIMO NIVEL</a:t>
            </a:r>
          </a:p>
        </p:txBody>
      </p:sp>
      <p:sp>
        <p:nvSpPr>
          <p:cNvPr id="3" name="boss-title">
            <a:extLst xmlns:a="http://schemas.openxmlformats.org/drawingml/2006/main">
              <a:ext uri="{FF2B5EF4-FFF2-40B4-BE49-F238E27FC236}">
                <a16:creationId xmlns:a16="http://schemas.microsoft.com/office/drawing/2014/main" id="{0B17D846-9152-4A0D-AA1E-A35C2B50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EFE8"/>
                </a:solidFill>
              </a:defRPr>
            </a:pPr>
            <a:r>
              <a:rPr sz="3450" b="1">
                <a:solidFill>
                  <a:srgbClr val="F3EFE8"/>
                </a:solidFill>
              </a:rPr>
              <a:t>El verdadero objetivo no es escapar.</a:t>
            </a:r>
          </a:p>
        </p:txBody>
      </p:sp>
      <p:sp>
        <p:nvSpPr>
          <p:cNvPr id="4" name="boss-body">
            <a:extLst xmlns:a="http://schemas.openxmlformats.org/drawingml/2006/main">
              <a:ext uri="{FF2B5EF4-FFF2-40B4-BE49-F238E27FC236}">
                <a16:creationId xmlns:a16="http://schemas.microsoft.com/office/drawing/2014/main" id="{7622AA81-51D4-4D64-8302-0CD647F3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09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7B0A6"/>
                </a:solidFill>
              </a:defRPr>
            </a:pPr>
            <a:r>
              <a:rPr sz="1875" b="0">
                <a:solidFill>
                  <a:srgbClr val="B7B0A6"/>
                </a:solidFill>
              </a:rPr>
              <a:t>En lo más profundo espera un orco único. Comparte las reglas del combate, pero representa el cierre de toda la expedición: cuando cae, la aventura reconoce la victoria.</a:t>
            </a:r>
          </a:p>
        </p:txBody>
      </p:sp>
      <p:sp>
        <p:nvSpPr>
          <p:cNvPr id="5" name="victory">
            <a:extLst xmlns:a="http://schemas.openxmlformats.org/drawingml/2006/main">
              <a:ext uri="{FF2B5EF4-FFF2-40B4-BE49-F238E27FC236}">
                <a16:creationId xmlns:a16="http://schemas.microsoft.com/office/drawing/2014/main" id="{FC85E300-1EE9-4E2F-9CFC-8C012D94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9F1D20"/>
                </a:solidFill>
              </a:defRPr>
            </a:pPr>
            <a:r>
              <a:rPr sz="3000" b="1">
                <a:solidFill>
                  <a:srgbClr val="9F1D20"/>
                </a:solidFill>
              </a:rPr>
              <a:t>YOU WIN!!!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E28C7F5-0FF1-4D47-A23C-BE2C9D6A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B3B0CF-3411-4042-8DD3-12BBE05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0452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201A4B46-5472-4FE4-9CC4-B03030E6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ACABADO FINAL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C1E49A-3B6A-4B01-A57B-F81689E1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La atmósfera empieza antes del primer paso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C515A7-93D0-4970-BC0B-4D406D3B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nu-frame">
            <a:extLst xmlns:a="http://schemas.openxmlformats.org/drawingml/2006/main">
              <a:ext uri="{FF2B5EF4-FFF2-40B4-BE49-F238E27FC236}">
                <a16:creationId xmlns:a16="http://schemas.microsoft.com/office/drawing/2014/main" id="{868CD099-CD84-4E5D-8847-648DCEB4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191250" cy="46482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B3E4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43888e59e4d8d"/>
          <a:stretch xmlns:a="http://schemas.openxmlformats.org/drawingml/2006/main"/>
        </p:blipFill>
        <p:spPr>
          <a:xfrm xmlns:a="http://schemas.openxmlformats.org/drawingml/2006/main">
            <a:off x="708025" y="1743075"/>
            <a:ext cx="5994400" cy="4495800"/>
          </a:xfrm>
          <a:prstGeom xmlns:a="http://schemas.openxmlformats.org/drawingml/2006/main" prst="rect">
            <a:avLst/>
          </a:prstGeom>
        </p:spPr>
      </p:pic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9201CBC7-94C1-49E3-AEFB-ECE2A162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38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9B7D2704-E547-4532-8053-B44375FF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952625"/>
            <a:ext cx="3581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EFE8"/>
                </a:solidFill>
              </a:defRPr>
            </a:pPr>
            <a:r>
              <a:rPr sz="1500" b="0">
                <a:solidFill>
                  <a:srgbClr val="F3EFE8"/>
                </a:solidFill>
              </a:rPr>
              <a:t>Una introducción audiovisual presenta el mundo.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176D39D7-DF65-4AA3-8AE3-94E46A94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19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737B59C-45ED-4E66-928E-9ABE767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733675"/>
            <a:ext cx="3581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EFE8"/>
                </a:solidFill>
              </a:defRPr>
            </a:pPr>
            <a:r>
              <a:rPr sz="1500" b="0">
                <a:solidFill>
                  <a:srgbClr val="F3EFE8"/>
                </a:solidFill>
              </a:rPr>
              <a:t>La música acompaña el menú y toda la partida.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15F08A01-2882-46E1-80B4-86D4642F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00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B799C5D2-AA3E-46BC-97FA-F2AEE676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514725"/>
            <a:ext cx="3581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EFE8"/>
                </a:solidFill>
              </a:defRPr>
            </a:pPr>
            <a:r>
              <a:rPr sz="1500" b="0">
                <a:solidFill>
                  <a:srgbClr val="F3EFE8"/>
                </a:solidFill>
              </a:rPr>
              <a:t>Los ataques y las derrotas tienen sonido propio.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1B6946A9-51D0-4F43-B2FB-2DFE290B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04736AD5-3FA2-424A-B3AF-7223FDCC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295775"/>
            <a:ext cx="3581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EFE8"/>
                </a:solidFill>
              </a:defRPr>
            </a:pPr>
            <a:r>
              <a:rPr sz="1500" b="0">
                <a:solidFill>
                  <a:srgbClr val="F3EFE8"/>
                </a:solidFill>
              </a:rPr>
              <a:t>La pantalla completa refuerza la inmersión.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F7704D3F-47D6-47DE-AB01-F183A013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62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717AD54A-B176-4FEE-9E22-F5FDAAD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076825"/>
            <a:ext cx="3581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EFE8"/>
                </a:solidFill>
              </a:defRPr>
            </a:pPr>
            <a:r>
              <a:rPr sz="1500" b="0">
                <a:solidFill>
                  <a:srgbClr val="F3EFE8"/>
                </a:solidFill>
              </a:rPr>
              <a:t>La introducción se puede omitir con teclado o ratón.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A848E155-977B-458D-884B-B71844F9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72FAA5-F8E3-4E19-A761-65C9F4D3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14645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A10F80A9-3D48-4C75-96E7-939344B3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0"/>
                </a:solidFill>
              </a:defRPr>
            </a:pPr>
            <a:r>
              <a:rPr sz="1050" b="1">
                <a:solidFill>
                  <a:srgbClr val="9F1D20"/>
                </a:solidFill>
              </a:rPr>
              <a:t>MEMORIA DE CREACIÓN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0BCA4A-A35D-4876-99B6-51B47EB5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EFE8"/>
                </a:solidFill>
              </a:defRPr>
            </a:pPr>
            <a:r>
              <a:rPr sz="2925" b="1">
                <a:solidFill>
                  <a:srgbClr val="F3EFE8"/>
                </a:solidFill>
              </a:rPr>
              <a:t>Diecisiete pasos convirtieron una idea en una aventura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3E393B1-3DF2-497E-BEF5-B9FE41A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ilestone-number-0">
            <a:extLst xmlns:a="http://schemas.openxmlformats.org/drawingml/2006/main">
              <a:ext uri="{FF2B5EF4-FFF2-40B4-BE49-F238E27FC236}">
                <a16:creationId xmlns:a16="http://schemas.microsoft.com/office/drawing/2014/main" id="{D0826EF2-A527-4AB4-B9A0-4B0A6E15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0"/>
                </a:solidFill>
              </a:defRPr>
            </a:pPr>
            <a:r>
              <a:rPr sz="1875" b="1">
                <a:solidFill>
                  <a:srgbClr val="9F1D20"/>
                </a:solidFill>
              </a:rPr>
              <a:t>1-4</a:t>
            </a:r>
          </a:p>
        </p:txBody>
      </p:sp>
      <p:sp>
        <p:nvSpPr>
          <p:cNvPr id="5" name="milestone-title-0">
            <a:extLst xmlns:a="http://schemas.openxmlformats.org/drawingml/2006/main">
              <a:ext uri="{FF2B5EF4-FFF2-40B4-BE49-F238E27FC236}">
                <a16:creationId xmlns:a16="http://schemas.microsoft.com/office/drawing/2014/main" id="{29939BD8-10C4-4065-BED4-02D93A0F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14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EFE8"/>
                </a:solidFill>
              </a:defRPr>
            </a:pPr>
            <a:r>
              <a:rPr sz="1725" b="1">
                <a:solidFill>
                  <a:srgbClr val="F3EFE8"/>
                </a:solidFill>
              </a:rPr>
              <a:t>La puerta de entrada</a:t>
            </a:r>
          </a:p>
        </p:txBody>
      </p:sp>
      <p:sp>
        <p:nvSpPr>
          <p:cNvPr id="6" name="milestone-body-0">
            <a:extLst xmlns:a="http://schemas.openxmlformats.org/drawingml/2006/main">
              <a:ext uri="{FF2B5EF4-FFF2-40B4-BE49-F238E27FC236}">
                <a16:creationId xmlns:a16="http://schemas.microsoft.com/office/drawing/2014/main" id="{3165E050-6B4A-49A4-BFD4-99F96403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0A6"/>
                </a:solidFill>
              </a:defRPr>
            </a:pPr>
            <a:r>
              <a:rPr sz="1425" b="0">
                <a:solidFill>
                  <a:srgbClr val="B7B0A6"/>
                </a:solidFill>
              </a:rPr>
              <a:t>La identidad del proyecto, su presentación y el espacio donde jugar.</a:t>
            </a:r>
          </a:p>
        </p:txBody>
      </p:sp>
      <p:sp>
        <p:nvSpPr>
          <p:cNvPr id="7" name="milestone-line-0">
            <a:extLst xmlns:a="http://schemas.openxmlformats.org/drawingml/2006/main">
              <a:ext uri="{FF2B5EF4-FFF2-40B4-BE49-F238E27FC236}">
                <a16:creationId xmlns:a16="http://schemas.microsoft.com/office/drawing/2014/main" id="{BA716BCD-EB50-40F6-A12D-B6CE06C0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71725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lestone-number-1">
            <a:extLst xmlns:a="http://schemas.openxmlformats.org/drawingml/2006/main">
              <a:ext uri="{FF2B5EF4-FFF2-40B4-BE49-F238E27FC236}">
                <a16:creationId xmlns:a16="http://schemas.microsoft.com/office/drawing/2014/main" id="{97800808-68DC-49D6-968A-7C440621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0"/>
                </a:solidFill>
              </a:defRPr>
            </a:pPr>
            <a:r>
              <a:rPr sz="1875" b="1">
                <a:solidFill>
                  <a:srgbClr val="9F1D20"/>
                </a:solidFill>
              </a:rPr>
              <a:t>5-7</a:t>
            </a:r>
          </a:p>
        </p:txBody>
      </p:sp>
      <p:sp>
        <p:nvSpPr>
          <p:cNvPr id="9" name="milestone-title-1">
            <a:extLst xmlns:a="http://schemas.openxmlformats.org/drawingml/2006/main">
              <a:ext uri="{FF2B5EF4-FFF2-40B4-BE49-F238E27FC236}">
                <a16:creationId xmlns:a16="http://schemas.microsoft.com/office/drawing/2014/main" id="{45E8138C-954A-4BC4-94DD-D8C5DDF9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90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EFE8"/>
                </a:solidFill>
              </a:defRPr>
            </a:pPr>
            <a:r>
              <a:rPr sz="1725" b="1">
                <a:solidFill>
                  <a:srgbClr val="F3EFE8"/>
                </a:solidFill>
              </a:rPr>
              <a:t>El primer ritual</a:t>
            </a:r>
          </a:p>
        </p:txBody>
      </p:sp>
      <p:sp>
        <p:nvSpPr>
          <p:cNvPr id="10" name="milestone-body-1">
            <a:extLst xmlns:a="http://schemas.openxmlformats.org/drawingml/2006/main">
              <a:ext uri="{FF2B5EF4-FFF2-40B4-BE49-F238E27FC236}">
                <a16:creationId xmlns:a16="http://schemas.microsoft.com/office/drawing/2014/main" id="{2B529893-D02D-4F40-B5C0-4D77FC6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0A6"/>
                </a:solidFill>
              </a:defRPr>
            </a:pPr>
            <a:r>
              <a:rPr sz="1425" b="0">
                <a:solidFill>
                  <a:srgbClr val="B7B0A6"/>
                </a:solidFill>
              </a:rPr>
              <a:t>Carga, bienvenida, controles y un menú con personalidad.</a:t>
            </a:r>
          </a:p>
        </p:txBody>
      </p:sp>
      <p:sp>
        <p:nvSpPr>
          <p:cNvPr id="11" name="milestone-line-1">
            <a:extLst xmlns:a="http://schemas.openxmlformats.org/drawingml/2006/main">
              <a:ext uri="{FF2B5EF4-FFF2-40B4-BE49-F238E27FC236}">
                <a16:creationId xmlns:a16="http://schemas.microsoft.com/office/drawing/2014/main" id="{23AF25A8-0CE3-413C-B52B-ED47D50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48025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lestone-number-2">
            <a:extLst xmlns:a="http://schemas.openxmlformats.org/drawingml/2006/main">
              <a:ext uri="{FF2B5EF4-FFF2-40B4-BE49-F238E27FC236}">
                <a16:creationId xmlns:a16="http://schemas.microsoft.com/office/drawing/2014/main" id="{B424447D-79B6-4D73-9576-9028639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0"/>
                </a:solidFill>
              </a:defRPr>
            </a:pPr>
            <a:r>
              <a:rPr sz="1875" b="1">
                <a:solidFill>
                  <a:srgbClr val="9F1D20"/>
                </a:solidFill>
              </a:rPr>
              <a:t>8-12</a:t>
            </a:r>
          </a:p>
        </p:txBody>
      </p:sp>
      <p:sp>
        <p:nvSpPr>
          <p:cNvPr id="13" name="milestone-title-2">
            <a:extLst xmlns:a="http://schemas.openxmlformats.org/drawingml/2006/main">
              <a:ext uri="{FF2B5EF4-FFF2-40B4-BE49-F238E27FC236}">
                <a16:creationId xmlns:a16="http://schemas.microsoft.com/office/drawing/2014/main" id="{B960DE8A-E41C-4655-A618-299C8A54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671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EFE8"/>
                </a:solidFill>
              </a:defRPr>
            </a:pPr>
            <a:r>
              <a:rPr sz="1725" b="1">
                <a:solidFill>
                  <a:srgbClr val="F3EFE8"/>
                </a:solidFill>
              </a:rPr>
              <a:t>El mundo toma forma</a:t>
            </a:r>
          </a:p>
        </p:txBody>
      </p:sp>
      <p:sp>
        <p:nvSpPr>
          <p:cNvPr id="14" name="milestone-body-2">
            <a:extLst xmlns:a="http://schemas.openxmlformats.org/drawingml/2006/main">
              <a:ext uri="{FF2B5EF4-FFF2-40B4-BE49-F238E27FC236}">
                <a16:creationId xmlns:a16="http://schemas.microsoft.com/office/drawing/2014/main" id="{BD789970-6BAA-4830-A710-6E87D669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671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0A6"/>
                </a:solidFill>
              </a:defRPr>
            </a:pPr>
            <a:r>
              <a:rPr sz="1425" b="0">
                <a:solidFill>
                  <a:srgbClr val="B7B0A6"/>
                </a:solidFill>
              </a:rPr>
              <a:t>Laberintos, jugador, vista en primera persona, niveles y escaleras.</a:t>
            </a:r>
          </a:p>
        </p:txBody>
      </p:sp>
      <p:sp>
        <p:nvSpPr>
          <p:cNvPr id="15" name="milestone-line-2">
            <a:extLst xmlns:a="http://schemas.openxmlformats.org/drawingml/2006/main">
              <a:ext uri="{FF2B5EF4-FFF2-40B4-BE49-F238E27FC236}">
                <a16:creationId xmlns:a16="http://schemas.microsoft.com/office/drawing/2014/main" id="{74640E98-4EB5-42F4-8C89-D14D7F4E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24325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ilestone-number-3">
            <a:extLst xmlns:a="http://schemas.openxmlformats.org/drawingml/2006/main">
              <a:ext uri="{FF2B5EF4-FFF2-40B4-BE49-F238E27FC236}">
                <a16:creationId xmlns:a16="http://schemas.microsoft.com/office/drawing/2014/main" id="{30D8E91C-DF20-4539-A310-436E86E6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0"/>
                </a:solidFill>
              </a:defRPr>
            </a:pPr>
            <a:r>
              <a:rPr sz="1875" b="1">
                <a:solidFill>
                  <a:srgbClr val="9F1D20"/>
                </a:solidFill>
              </a:rPr>
              <a:t>13-16</a:t>
            </a:r>
          </a:p>
        </p:txBody>
      </p:sp>
      <p:sp>
        <p:nvSpPr>
          <p:cNvPr id="17" name="milestone-title-3">
            <a:extLst xmlns:a="http://schemas.openxmlformats.org/drawingml/2006/main">
              <a:ext uri="{FF2B5EF4-FFF2-40B4-BE49-F238E27FC236}">
                <a16:creationId xmlns:a16="http://schemas.microsoft.com/office/drawing/2014/main" id="{E82AF0F7-388E-473B-854D-A8A83D79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EFE8"/>
                </a:solidFill>
              </a:defRPr>
            </a:pPr>
            <a:r>
              <a:rPr sz="1725" b="1">
                <a:solidFill>
                  <a:srgbClr val="F3EFE8"/>
                </a:solidFill>
              </a:rPr>
              <a:t>Aparece el peligro</a:t>
            </a:r>
          </a:p>
        </p:txBody>
      </p:sp>
      <p:sp>
        <p:nvSpPr>
          <p:cNvPr id="18" name="milestone-body-3">
            <a:extLst xmlns:a="http://schemas.openxmlformats.org/drawingml/2006/main">
              <a:ext uri="{FF2B5EF4-FFF2-40B4-BE49-F238E27FC236}">
                <a16:creationId xmlns:a16="http://schemas.microsoft.com/office/drawing/2014/main" id="{23DF35AE-4F6E-4AB3-A83E-DACBD10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34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0A6"/>
                </a:solidFill>
              </a:defRPr>
            </a:pPr>
            <a:r>
              <a:rPr sz="1425" b="0">
                <a:solidFill>
                  <a:srgbClr val="B7B0A6"/>
                </a:solidFill>
              </a:rPr>
              <a:t>Goblins, combate dinámico, pociones y un jefe final.</a:t>
            </a:r>
          </a:p>
        </p:txBody>
      </p:sp>
      <p:sp>
        <p:nvSpPr>
          <p:cNvPr id="19" name="milestone-line-3">
            <a:extLst xmlns:a="http://schemas.openxmlformats.org/drawingml/2006/main">
              <a:ext uri="{FF2B5EF4-FFF2-40B4-BE49-F238E27FC236}">
                <a16:creationId xmlns:a16="http://schemas.microsoft.com/office/drawing/2014/main" id="{49DA44B0-3467-4945-81D9-5DF64E53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00625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ilestone-number-4">
            <a:extLst xmlns:a="http://schemas.openxmlformats.org/drawingml/2006/main">
              <a:ext uri="{FF2B5EF4-FFF2-40B4-BE49-F238E27FC236}">
                <a16:creationId xmlns:a16="http://schemas.microsoft.com/office/drawing/2014/main" id="{2EF2790D-7DCA-4CD8-B653-5C48244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0"/>
                </a:solidFill>
              </a:defRPr>
            </a:pPr>
            <a:r>
              <a:rPr sz="1875" b="1">
                <a:solidFill>
                  <a:srgbClr val="9F1D20"/>
                </a:solidFill>
              </a:rPr>
              <a:t>17</a:t>
            </a:r>
          </a:p>
        </p:txBody>
      </p:sp>
      <p:sp>
        <p:nvSpPr>
          <p:cNvPr id="21" name="milestone-title-4">
            <a:extLst xmlns:a="http://schemas.openxmlformats.org/drawingml/2006/main">
              <a:ext uri="{FF2B5EF4-FFF2-40B4-BE49-F238E27FC236}">
                <a16:creationId xmlns:a16="http://schemas.microsoft.com/office/drawing/2014/main" id="{731A3ED4-1862-4D86-A4E3-BA6F78B2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197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EFE8"/>
                </a:solidFill>
              </a:defRPr>
            </a:pPr>
            <a:r>
              <a:rPr sz="1725" b="1">
                <a:solidFill>
                  <a:srgbClr val="F3EFE8"/>
                </a:solidFill>
              </a:rPr>
              <a:t>La última capa</a:t>
            </a:r>
          </a:p>
        </p:txBody>
      </p:sp>
      <p:sp>
        <p:nvSpPr>
          <p:cNvPr id="22" name="milestone-body-4">
            <a:extLst xmlns:a="http://schemas.openxmlformats.org/drawingml/2006/main">
              <a:ext uri="{FF2B5EF4-FFF2-40B4-BE49-F238E27FC236}">
                <a16:creationId xmlns:a16="http://schemas.microsoft.com/office/drawing/2014/main" id="{1BDE4510-BF96-45E7-B4D4-F0B6BBD5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197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0A6"/>
                </a:solidFill>
              </a:defRPr>
            </a:pPr>
            <a:r>
              <a:rPr sz="1425" b="0">
                <a:solidFill>
                  <a:srgbClr val="B7B0A6"/>
                </a:solidFill>
              </a:rPr>
              <a:t>Introducción, música, efectos, pantalla completa y simplificación del menú.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9051D9CB-70D1-4275-A1B0-FA3AC0BE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6755C2-5988-491B-A836-D0C4E7C6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671733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7AB760D7-1138-4026-ABFC-D4D244A2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B6932B2-7668-42E1-9FA8-BA48C24C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3EFE8"/>
                </a:solidFill>
              </a:defRPr>
            </a:pPr>
            <a:r>
              <a:rPr sz="4050" b="1">
                <a:solidFill>
                  <a:srgbClr val="F3EFE8"/>
                </a:solidFill>
              </a:rPr>
              <a:t>Entra. Explora. Sobrevive.</a:t>
            </a:r>
          </a:p>
        </p:txBody>
      </p:sp>
      <p:sp>
        <p:nvSpPr>
          <p:cNvPr id="3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704D5F7E-BC96-4649-A6A1-C0279E27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7B0A6"/>
                </a:solidFill>
              </a:defRPr>
            </a:pPr>
            <a:r>
              <a:rPr sz="2100" b="0">
                <a:solidFill>
                  <a:srgbClr val="B7B0A6"/>
                </a:solidFill>
              </a:rPr>
              <a:t>Cada pasillo es una pregunta. Cada escalera, una promesa. El último nivel, una respuesta.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5191CA01-0659-4883-9D88-667BBA67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list">
            <a:extLst xmlns:a="http://schemas.openxmlformats.org/drawingml/2006/main">
              <a:ext uri="{FF2B5EF4-FFF2-40B4-BE49-F238E27FC236}">
                <a16:creationId xmlns:a16="http://schemas.microsoft.com/office/drawing/2014/main" id="{95BC610E-DC1B-4B4A-AD46-A705AC2B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EFE8"/>
                </a:solidFill>
              </a:defRPr>
            </a:pPr>
            <a:r>
              <a:rPr sz="1575" b="1">
                <a:solidFill>
                  <a:srgbClr val="F3EFE8"/>
                </a:solidFill>
              </a:rPr>
              <a:t>Flechas para moverte  |  Minimapa para orientarte  |  Pociones para resistir  |  Orco para vencer</a:t>
            </a:r>
          </a:p>
        </p:txBody>
      </p:sp>
      <p:sp>
        <p:nvSpPr>
          <p:cNvPr id="6" name="closing-name">
            <a:extLst xmlns:a="http://schemas.openxmlformats.org/drawingml/2006/main">
              <a:ext uri="{FF2B5EF4-FFF2-40B4-BE49-F238E27FC236}">
                <a16:creationId xmlns:a16="http://schemas.microsoft.com/office/drawing/2014/main" id="{33E1D43B-67DE-472A-9A82-3BAF4265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1D20"/>
                </a:solidFill>
              </a:defRPr>
            </a:pPr>
            <a:r>
              <a:rPr sz="2325" b="1">
                <a:solidFill>
                  <a:srgbClr val="9F1D20"/>
                </a:solidFill>
              </a:rPr>
              <a:t>BURIED DARK WORLD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69E099E-86DD-47CD-9C25-1E1AB789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BURIED DARK WORLD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2D2D98-8BF6-4E52-BDBD-2038BA23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B0A6"/>
                </a:solidFill>
              </a:defRPr>
            </a:pPr>
            <a:r>
              <a:rPr sz="825" b="1">
                <a:solidFill>
                  <a:srgbClr val="B7B0A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59495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2026-08-19T09:10:09.5540000Z</dcterms:created>
  <dcterms:modified xsi:type="dcterms:W3CDTF">2026-08-19T09:10:09.5550000Z</dcterms:modified>
</coreProperties>
</file>